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62" r:id="rId4"/>
    <p:sldId id="263" r:id="rId5"/>
    <p:sldId id="261" r:id="rId6"/>
    <p:sldId id="258" r:id="rId7"/>
    <p:sldId id="268" r:id="rId8"/>
    <p:sldId id="264" r:id="rId9"/>
    <p:sldId id="259" r:id="rId10"/>
    <p:sldId id="265" r:id="rId11"/>
    <p:sldId id="266" r:id="rId12"/>
    <p:sldId id="260"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91B805F-FF0F-4BAA-A3A3-E4F945D687F8}" type="datetimeFigureOut">
              <a:rPr lang="en-US" dirty="0"/>
              <a:t>9/29/2018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261F3A6-CC5D-4649-8527-DB0C21FDDFD9}" type="datetimeFigureOut">
              <a:rPr lang="en-US" dirty="0"/>
              <a:t>9/29/2018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5B6F927C-B73E-4F9D-ADFE-F6E23BD7CEE8}" type="datetimeFigureOut">
              <a:rPr lang="en-US" dirty="0"/>
              <a:t>9/29/2018</a:t>
            </a:fld>
            <a:endParaRPr lang="en-US" dirty="0"/>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5B1FFFF-984A-4EE5-9BF2-EC9310C878F1}" type="datetimeFigureOut">
              <a:rPr lang="en-US" dirty="0"/>
              <a:t>9/29/2018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03271C1-B42E-4A60-A25F-0185B888604B}" type="datetimeFigureOut">
              <a:rPr lang="en-US" dirty="0"/>
              <a:t>9/29/2018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0416292-3725-4763-8973-4C59F0403D99}" type="datetimeFigureOut">
              <a:rPr lang="en-US" dirty="0"/>
              <a:t>9/29/2018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6996D1-8909-469F-911A-4C12C68BF5D9}" type="datetimeFigureOut">
              <a:rPr lang="en-US" dirty="0"/>
              <a:t>9/29/2018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E16A73BC-5D11-4675-B334-102E1E8C9B50}" type="datetimeFigureOut">
              <a:rPr lang="en-US" dirty="0"/>
              <a:t>9/29/2018</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27B8E45F-652B-4E89-8925-000B0AB8FD98}" type="datetimeFigureOut">
              <a:rPr lang="en-US" dirty="0"/>
              <a:t>9/29/2018</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80B5C51-60B3-48EF-AA78-DB950F30DBA2}" type="datetimeFigureOut">
              <a:rPr lang="en-US" dirty="0"/>
              <a:t>9/29/2018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35D676B-6E73-4E3B-A9B3-4966DB9B52A5}" type="datetimeFigureOut">
              <a:rPr lang="en-US" dirty="0"/>
              <a:t>9/29/2018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C4A3462A-2D5B-48AF-A3D4-EF8A90A50A80}" type="datetimeFigureOut">
              <a:rPr lang="en-US" dirty="0"/>
              <a:t>9/29/2018</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piumhub.com/es/tech-blog-barcelona/metodologia-agil/"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dirty="0"/>
              <a:t>TÉCNICAS DE DISEÑO Y DESARROLLO</a:t>
            </a:r>
          </a:p>
        </p:txBody>
      </p:sp>
      <p:sp>
        <p:nvSpPr>
          <p:cNvPr id="3" name="Subtítulo 2"/>
          <p:cNvSpPr>
            <a:spLocks noGrp="1"/>
          </p:cNvSpPr>
          <p:nvPr>
            <p:ph type="subTitle" idx="1"/>
          </p:nvPr>
        </p:nvSpPr>
        <p:spPr/>
        <p:txBody>
          <a:bodyPr/>
          <a:lstStyle/>
          <a:p>
            <a:r>
              <a:rPr lang="es-PE" dirty="0"/>
              <a:t>BASE DE DATOS II</a:t>
            </a:r>
          </a:p>
        </p:txBody>
      </p:sp>
      <p:pic>
        <p:nvPicPr>
          <p:cNvPr id="10" name="Imagen 9">
            <a:extLst>
              <a:ext uri="{FF2B5EF4-FFF2-40B4-BE49-F238E27FC236}">
                <a16:creationId xmlns:a16="http://schemas.microsoft.com/office/drawing/2014/main" xmlns="" id="{7B3AA6F0-3D3E-4231-B5A2-1F4B7AEB7BA9}"/>
              </a:ext>
            </a:extLst>
          </p:cNvPr>
          <p:cNvPicPr>
            <a:picLocks noChangeAspect="1"/>
          </p:cNvPicPr>
          <p:nvPr/>
        </p:nvPicPr>
        <p:blipFill>
          <a:blip r:embed="rId2"/>
          <a:stretch>
            <a:fillRect/>
          </a:stretch>
        </p:blipFill>
        <p:spPr>
          <a:xfrm>
            <a:off x="6517341" y="4137211"/>
            <a:ext cx="2864224" cy="2864224"/>
          </a:xfrm>
          <a:prstGeom prst="rect">
            <a:avLst/>
          </a:prstGeom>
        </p:spPr>
      </p:pic>
    </p:spTree>
    <p:extLst>
      <p:ext uri="{BB962C8B-B14F-4D97-AF65-F5344CB8AC3E}">
        <p14:creationId xmlns:p14="http://schemas.microsoft.com/office/powerpoint/2010/main" val="781197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72879" y="1979284"/>
            <a:ext cx="1467289" cy="738861"/>
          </a:xfrm>
        </p:spPr>
        <p:txBody>
          <a:bodyPr>
            <a:normAutofit fontScale="90000"/>
          </a:bodyPr>
          <a:lstStyle/>
          <a:p>
            <a:r>
              <a:rPr lang="es-PE" dirty="0"/>
              <a:t>DDD</a:t>
            </a:r>
          </a:p>
        </p:txBody>
      </p:sp>
      <p:sp>
        <p:nvSpPr>
          <p:cNvPr id="6" name="Título 1"/>
          <p:cNvSpPr txBox="1">
            <a:spLocks/>
          </p:cNvSpPr>
          <p:nvPr/>
        </p:nvSpPr>
        <p:spPr>
          <a:xfrm>
            <a:off x="847621" y="3257653"/>
            <a:ext cx="2350563" cy="176440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PE" sz="4400" dirty="0" err="1"/>
              <a:t>Domain</a:t>
            </a:r>
            <a:r>
              <a:rPr lang="es-PE" sz="4400" dirty="0"/>
              <a:t/>
            </a:r>
            <a:br>
              <a:rPr lang="es-PE" sz="4400" dirty="0"/>
            </a:br>
            <a:r>
              <a:rPr lang="es-PE" sz="4400" dirty="0"/>
              <a:t> </a:t>
            </a:r>
            <a:r>
              <a:rPr lang="es-PE" sz="4400" dirty="0" err="1"/>
              <a:t>Driven</a:t>
            </a:r>
            <a:r>
              <a:rPr lang="es-PE" sz="4400" dirty="0"/>
              <a:t/>
            </a:r>
            <a:br>
              <a:rPr lang="es-PE" sz="4400" dirty="0"/>
            </a:br>
            <a:r>
              <a:rPr lang="es-PE" sz="4400" dirty="0"/>
              <a:t> </a:t>
            </a:r>
            <a:r>
              <a:rPr lang="es-PE" sz="4400" dirty="0" err="1"/>
              <a:t>Design</a:t>
            </a:r>
            <a:endParaRPr lang="es-PE" sz="4400" dirty="0"/>
          </a:p>
        </p:txBody>
      </p:sp>
      <p:sp>
        <p:nvSpPr>
          <p:cNvPr id="5" name="CuadroTexto 4">
            <a:extLst>
              <a:ext uri="{FF2B5EF4-FFF2-40B4-BE49-F238E27FC236}">
                <a16:creationId xmlns:a16="http://schemas.microsoft.com/office/drawing/2014/main" xmlns="" id="{E03F73D0-FEC8-4B8C-ADFC-2CFB93993043}"/>
              </a:ext>
            </a:extLst>
          </p:cNvPr>
          <p:cNvSpPr txBox="1"/>
          <p:nvPr/>
        </p:nvSpPr>
        <p:spPr>
          <a:xfrm>
            <a:off x="3487790" y="1793556"/>
            <a:ext cx="7531331" cy="3784754"/>
          </a:xfrm>
          <a:prstGeom prst="rect">
            <a:avLst/>
          </a:prstGeom>
          <a:noFill/>
        </p:spPr>
        <p:txBody>
          <a:bodyPr wrap="square" rtlCol="0">
            <a:spAutoFit/>
          </a:bodyPr>
          <a:lstStyle/>
          <a:p>
            <a:pPr algn="just">
              <a:lnSpc>
                <a:spcPct val="150000"/>
              </a:lnSpc>
            </a:pPr>
            <a:r>
              <a:rPr lang="es-PE" dirty="0"/>
              <a:t>DDD es una metodología y una receta de proceso para el desarrollo de sistemas complejos cuyo enfoque es mapear actividades, tareas, eventos y datos dentro de un dominio de problemas en los artefactos de tecnología de un dominio de solución.</a:t>
            </a:r>
          </a:p>
          <a:p>
            <a:pPr algn="just">
              <a:lnSpc>
                <a:spcPct val="150000"/>
              </a:lnSpc>
            </a:pPr>
            <a:r>
              <a:rPr lang="es-PE" dirty="0"/>
              <a:t>El énfasis del Diseño Dirigido por Dominio es comprender el dominio del problema para crear un modelo abstracto del dominio del problema que luego se puede implementar en un conjunto particular de tecnologías. </a:t>
            </a:r>
          </a:p>
        </p:txBody>
      </p:sp>
      <p:pic>
        <p:nvPicPr>
          <p:cNvPr id="7" name="Imagen 6">
            <a:extLst>
              <a:ext uri="{FF2B5EF4-FFF2-40B4-BE49-F238E27FC236}">
                <a16:creationId xmlns:a16="http://schemas.microsoft.com/office/drawing/2014/main" xmlns="" id="{FFF03507-00A7-4869-919C-15FEA342D34A}"/>
              </a:ext>
            </a:extLst>
          </p:cNvPr>
          <p:cNvPicPr>
            <a:picLocks noChangeAspect="1"/>
          </p:cNvPicPr>
          <p:nvPr/>
        </p:nvPicPr>
        <p:blipFill>
          <a:blip r:embed="rId3"/>
          <a:stretch>
            <a:fillRect/>
          </a:stretch>
        </p:blipFill>
        <p:spPr>
          <a:xfrm>
            <a:off x="9588796" y="5401339"/>
            <a:ext cx="1031358" cy="1031358"/>
          </a:xfrm>
          <a:prstGeom prst="rect">
            <a:avLst/>
          </a:prstGeom>
        </p:spPr>
      </p:pic>
    </p:spTree>
    <p:extLst>
      <p:ext uri="{BB962C8B-B14F-4D97-AF65-F5344CB8AC3E}">
        <p14:creationId xmlns:p14="http://schemas.microsoft.com/office/powerpoint/2010/main" val="36605372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EE41DEF-ABAD-4AF8-A424-554C611C1E48}"/>
              </a:ext>
            </a:extLst>
          </p:cNvPr>
          <p:cNvSpPr>
            <a:spLocks noGrp="1"/>
          </p:cNvSpPr>
          <p:nvPr>
            <p:ph type="title"/>
          </p:nvPr>
        </p:nvSpPr>
        <p:spPr/>
        <p:txBody>
          <a:bodyPr/>
          <a:lstStyle/>
          <a:p>
            <a:r>
              <a:rPr lang="es-PE" dirty="0"/>
              <a:t>Este se centras en:</a:t>
            </a:r>
            <a:endParaRPr lang="es-ES" dirty="0"/>
          </a:p>
        </p:txBody>
      </p:sp>
      <p:sp>
        <p:nvSpPr>
          <p:cNvPr id="3" name="Marcador de contenido 2">
            <a:extLst>
              <a:ext uri="{FF2B5EF4-FFF2-40B4-BE49-F238E27FC236}">
                <a16:creationId xmlns:a16="http://schemas.microsoft.com/office/drawing/2014/main" xmlns="" id="{81D8F2C2-B764-468A-9317-523A2A97424A}"/>
              </a:ext>
            </a:extLst>
          </p:cNvPr>
          <p:cNvSpPr>
            <a:spLocks noGrp="1"/>
          </p:cNvSpPr>
          <p:nvPr>
            <p:ph idx="1"/>
          </p:nvPr>
        </p:nvSpPr>
        <p:spPr/>
        <p:txBody>
          <a:bodyPr/>
          <a:lstStyle/>
          <a:p>
            <a:r>
              <a:rPr lang="es-PE" dirty="0"/>
              <a:t>El </a:t>
            </a:r>
            <a:r>
              <a:rPr lang="es-PE" dirty="0" err="1"/>
              <a:t>domain</a:t>
            </a:r>
            <a:r>
              <a:rPr lang="es-PE" dirty="0"/>
              <a:t> central y su </a:t>
            </a:r>
            <a:r>
              <a:rPr lang="es-PE" dirty="0" err="1"/>
              <a:t>logica</a:t>
            </a:r>
            <a:endParaRPr lang="es-PE" dirty="0"/>
          </a:p>
          <a:p>
            <a:r>
              <a:rPr lang="es-PE" dirty="0"/>
              <a:t>Diseños complejos en modelos </a:t>
            </a:r>
            <a:r>
              <a:rPr lang="es-PE" dirty="0" err="1"/>
              <a:t>domain</a:t>
            </a:r>
            <a:endParaRPr lang="es-PE" dirty="0"/>
          </a:p>
          <a:p>
            <a:r>
              <a:rPr lang="es-PE" dirty="0"/>
              <a:t>Mejorando el modelo de la aplicación y resolviendo problemas emergentes relacionados con el </a:t>
            </a:r>
            <a:r>
              <a:rPr lang="es-PE" dirty="0" err="1"/>
              <a:t>domain</a:t>
            </a:r>
            <a:r>
              <a:rPr lang="es-PE" dirty="0"/>
              <a:t> colaborando con expertos.</a:t>
            </a:r>
            <a:endParaRPr lang="es-ES" dirty="0"/>
          </a:p>
        </p:txBody>
      </p:sp>
      <p:pic>
        <p:nvPicPr>
          <p:cNvPr id="4" name="Imagen 3">
            <a:extLst>
              <a:ext uri="{FF2B5EF4-FFF2-40B4-BE49-F238E27FC236}">
                <a16:creationId xmlns:a16="http://schemas.microsoft.com/office/drawing/2014/main" xmlns="" id="{2590365A-CE53-4072-8B7C-C1795136A839}"/>
              </a:ext>
            </a:extLst>
          </p:cNvPr>
          <p:cNvPicPr>
            <a:picLocks noChangeAspect="1"/>
          </p:cNvPicPr>
          <p:nvPr/>
        </p:nvPicPr>
        <p:blipFill>
          <a:blip r:embed="rId2"/>
          <a:stretch>
            <a:fillRect/>
          </a:stretch>
        </p:blipFill>
        <p:spPr>
          <a:xfrm>
            <a:off x="7054663" y="3994786"/>
            <a:ext cx="3044228" cy="2101214"/>
          </a:xfrm>
          <a:prstGeom prst="rect">
            <a:avLst/>
          </a:prstGeom>
        </p:spPr>
      </p:pic>
    </p:spTree>
    <p:extLst>
      <p:ext uri="{BB962C8B-B14F-4D97-AF65-F5344CB8AC3E}">
        <p14:creationId xmlns:p14="http://schemas.microsoft.com/office/powerpoint/2010/main" val="19312622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AFE86B4-16B9-4EF8-BC44-3A65D7C38C89}"/>
              </a:ext>
            </a:extLst>
          </p:cNvPr>
          <p:cNvSpPr>
            <a:spLocks noGrp="1"/>
          </p:cNvSpPr>
          <p:nvPr>
            <p:ph type="title"/>
          </p:nvPr>
        </p:nvSpPr>
        <p:spPr/>
        <p:txBody>
          <a:bodyPr/>
          <a:lstStyle/>
          <a:p>
            <a:r>
              <a:rPr lang="es-PE" dirty="0"/>
              <a:t>Beneficios…</a:t>
            </a:r>
            <a:endParaRPr lang="es-ES" dirty="0"/>
          </a:p>
        </p:txBody>
      </p:sp>
      <p:sp>
        <p:nvSpPr>
          <p:cNvPr id="3" name="Marcador de contenido 2">
            <a:extLst>
              <a:ext uri="{FF2B5EF4-FFF2-40B4-BE49-F238E27FC236}">
                <a16:creationId xmlns:a16="http://schemas.microsoft.com/office/drawing/2014/main" xmlns="" id="{F34A521C-8F63-46CE-A4EF-A152734C123B}"/>
              </a:ext>
            </a:extLst>
          </p:cNvPr>
          <p:cNvSpPr>
            <a:spLocks noGrp="1"/>
          </p:cNvSpPr>
          <p:nvPr>
            <p:ph idx="1"/>
          </p:nvPr>
        </p:nvSpPr>
        <p:spPr/>
        <p:txBody>
          <a:bodyPr/>
          <a:lstStyle/>
          <a:p>
            <a:r>
              <a:rPr lang="es-PE" dirty="0"/>
              <a:t>Orientado a las necesidades de negocio</a:t>
            </a:r>
          </a:p>
          <a:p>
            <a:r>
              <a:rPr lang="es-PE" dirty="0"/>
              <a:t>Un grupo común de términos y definiciones usado por todo el equipo</a:t>
            </a:r>
          </a:p>
          <a:p>
            <a:r>
              <a:rPr lang="es-PE" dirty="0"/>
              <a:t>Hacer un seguimiento facilita las cosas </a:t>
            </a:r>
          </a:p>
          <a:p>
            <a:r>
              <a:rPr lang="es-ES" dirty="0"/>
              <a:t>Mejor código</a:t>
            </a:r>
          </a:p>
          <a:p>
            <a:r>
              <a:rPr lang="es-ES" dirty="0"/>
              <a:t>Agilidad como principio</a:t>
            </a:r>
          </a:p>
          <a:p>
            <a:r>
              <a:rPr lang="es-PE" dirty="0"/>
              <a:t>Consigue una buena arquitectura de software</a:t>
            </a:r>
          </a:p>
          <a:p>
            <a:r>
              <a:rPr lang="es-ES" dirty="0"/>
              <a:t>Puramente flexible</a:t>
            </a:r>
          </a:p>
          <a:p>
            <a:r>
              <a:rPr lang="es-ES" dirty="0"/>
              <a:t>Centrarse en la solución</a:t>
            </a:r>
          </a:p>
        </p:txBody>
      </p:sp>
      <p:pic>
        <p:nvPicPr>
          <p:cNvPr id="5" name="Imagen 4">
            <a:extLst>
              <a:ext uri="{FF2B5EF4-FFF2-40B4-BE49-F238E27FC236}">
                <a16:creationId xmlns:a16="http://schemas.microsoft.com/office/drawing/2014/main" xmlns="" id="{EEA72719-175B-4111-814C-A81D300B6EE6}"/>
              </a:ext>
            </a:extLst>
          </p:cNvPr>
          <p:cNvPicPr>
            <a:picLocks noChangeAspect="1"/>
          </p:cNvPicPr>
          <p:nvPr/>
        </p:nvPicPr>
        <p:blipFill>
          <a:blip r:embed="rId2"/>
          <a:stretch>
            <a:fillRect/>
          </a:stretch>
        </p:blipFill>
        <p:spPr>
          <a:xfrm>
            <a:off x="8589029" y="4050926"/>
            <a:ext cx="2347913" cy="1619250"/>
          </a:xfrm>
          <a:prstGeom prst="rect">
            <a:avLst/>
          </a:prstGeom>
        </p:spPr>
      </p:pic>
    </p:spTree>
    <p:extLst>
      <p:ext uri="{BB962C8B-B14F-4D97-AF65-F5344CB8AC3E}">
        <p14:creationId xmlns:p14="http://schemas.microsoft.com/office/powerpoint/2010/main" val="5352226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xmlns="" id="{E03D4C5C-A05F-4356-87F8-7D6C04757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3385" y="378613"/>
            <a:ext cx="7365229" cy="6100773"/>
          </a:xfrm>
          <a:prstGeom prst="rect">
            <a:avLst/>
          </a:prstGeom>
        </p:spPr>
      </p:pic>
    </p:spTree>
    <p:extLst>
      <p:ext uri="{BB962C8B-B14F-4D97-AF65-F5344CB8AC3E}">
        <p14:creationId xmlns:p14="http://schemas.microsoft.com/office/powerpoint/2010/main" val="42687187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14546" y="1914188"/>
            <a:ext cx="1493048" cy="1112348"/>
          </a:xfrm>
        </p:spPr>
        <p:txBody>
          <a:bodyPr>
            <a:normAutofit/>
          </a:bodyPr>
          <a:lstStyle/>
          <a:p>
            <a:r>
              <a:rPr lang="es-PE" sz="4400" dirty="0"/>
              <a:t>BDD</a:t>
            </a:r>
          </a:p>
        </p:txBody>
      </p:sp>
      <p:sp>
        <p:nvSpPr>
          <p:cNvPr id="4" name="Título 1"/>
          <p:cNvSpPr txBox="1">
            <a:spLocks/>
          </p:cNvSpPr>
          <p:nvPr/>
        </p:nvSpPr>
        <p:spPr>
          <a:xfrm>
            <a:off x="849834" y="3405990"/>
            <a:ext cx="2628535" cy="1578135"/>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s-PE" dirty="0" err="1"/>
              <a:t>Behavior</a:t>
            </a:r>
            <a:r>
              <a:rPr lang="es-PE" dirty="0"/>
              <a:t> </a:t>
            </a:r>
          </a:p>
          <a:p>
            <a:pPr algn="ctr"/>
            <a:r>
              <a:rPr lang="es-PE" dirty="0" err="1"/>
              <a:t>Driven</a:t>
            </a:r>
            <a:r>
              <a:rPr lang="es-PE" dirty="0"/>
              <a:t> </a:t>
            </a:r>
          </a:p>
          <a:p>
            <a:pPr algn="ctr"/>
            <a:r>
              <a:rPr lang="es-PE" dirty="0" err="1"/>
              <a:t>Design</a:t>
            </a:r>
            <a:endParaRPr lang="es-PE" dirty="0"/>
          </a:p>
        </p:txBody>
      </p:sp>
      <p:sp>
        <p:nvSpPr>
          <p:cNvPr id="3" name="CuadroTexto 2">
            <a:extLst>
              <a:ext uri="{FF2B5EF4-FFF2-40B4-BE49-F238E27FC236}">
                <a16:creationId xmlns:a16="http://schemas.microsoft.com/office/drawing/2014/main" xmlns="" id="{ED4CC1D4-61A2-44C6-8F55-1349F17AA84E}"/>
              </a:ext>
            </a:extLst>
          </p:cNvPr>
          <p:cNvSpPr txBox="1"/>
          <p:nvPr/>
        </p:nvSpPr>
        <p:spPr>
          <a:xfrm>
            <a:off x="3973484" y="2030368"/>
            <a:ext cx="7368682" cy="2953757"/>
          </a:xfrm>
          <a:prstGeom prst="rect">
            <a:avLst/>
          </a:prstGeom>
          <a:noFill/>
        </p:spPr>
        <p:txBody>
          <a:bodyPr wrap="square" rtlCol="0">
            <a:spAutoFit/>
          </a:bodyPr>
          <a:lstStyle/>
          <a:p>
            <a:pPr algn="just">
              <a:lnSpc>
                <a:spcPct val="150000"/>
              </a:lnSpc>
            </a:pPr>
            <a:r>
              <a:rPr lang="es-PE" dirty="0"/>
              <a:t>BDD es un conjunto de prácticas que buscan mejorar la comunicación de los requerimientos y expresar mediante ejemplos el diseño de un software. Da soporte directo a los valores ágiles de </a:t>
            </a:r>
            <a:r>
              <a:rPr lang="es-PE" i="1" dirty="0"/>
              <a:t>colaboración con el cliente</a:t>
            </a:r>
            <a:r>
              <a:rPr lang="es-PE" dirty="0"/>
              <a:t> y </a:t>
            </a:r>
            <a:r>
              <a:rPr lang="es-PE" i="1" dirty="0"/>
              <a:t>respuesta al cambio</a:t>
            </a:r>
            <a:r>
              <a:rPr lang="es-PE" dirty="0"/>
              <a:t>, ya que ayuda a crear un lenguaje común entre el equipo que desarrolla y las personas que definen los requerimientos del negocio</a:t>
            </a:r>
          </a:p>
        </p:txBody>
      </p:sp>
      <p:pic>
        <p:nvPicPr>
          <p:cNvPr id="5" name="Imagen 4">
            <a:extLst>
              <a:ext uri="{FF2B5EF4-FFF2-40B4-BE49-F238E27FC236}">
                <a16:creationId xmlns:a16="http://schemas.microsoft.com/office/drawing/2014/main" xmlns="" id="{57CC1E15-1901-4591-9966-73694C5B0B47}"/>
              </a:ext>
            </a:extLst>
          </p:cNvPr>
          <p:cNvPicPr>
            <a:picLocks noChangeAspect="1"/>
          </p:cNvPicPr>
          <p:nvPr/>
        </p:nvPicPr>
        <p:blipFill>
          <a:blip r:embed="rId3"/>
          <a:stretch>
            <a:fillRect/>
          </a:stretch>
        </p:blipFill>
        <p:spPr>
          <a:xfrm>
            <a:off x="9588796" y="5263116"/>
            <a:ext cx="1031358" cy="1031358"/>
          </a:xfrm>
          <a:prstGeom prst="rect">
            <a:avLst/>
          </a:prstGeom>
        </p:spPr>
      </p:pic>
    </p:spTree>
    <p:extLst>
      <p:ext uri="{BB962C8B-B14F-4D97-AF65-F5344CB8AC3E}">
        <p14:creationId xmlns:p14="http://schemas.microsoft.com/office/powerpoint/2010/main" val="1219388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Características principales</a:t>
            </a:r>
            <a:endParaRPr lang="es-PE" dirty="0"/>
          </a:p>
        </p:txBody>
      </p:sp>
      <p:sp>
        <p:nvSpPr>
          <p:cNvPr id="3" name="Marcador de contenido 2"/>
          <p:cNvSpPr>
            <a:spLocks noGrp="1"/>
          </p:cNvSpPr>
          <p:nvPr>
            <p:ph idx="1"/>
          </p:nvPr>
        </p:nvSpPr>
        <p:spPr/>
        <p:txBody>
          <a:bodyPr/>
          <a:lstStyle/>
          <a:p>
            <a:pPr marL="0" indent="0">
              <a:buNone/>
            </a:pPr>
            <a:r>
              <a:rPr lang="es-PE" dirty="0"/>
              <a:t>El </a:t>
            </a:r>
            <a:r>
              <a:rPr lang="es-PE" dirty="0" smtClean="0"/>
              <a:t>BDD se </a:t>
            </a:r>
            <a:r>
              <a:rPr lang="es-PE" dirty="0"/>
              <a:t>centra en</a:t>
            </a:r>
            <a:r>
              <a:rPr lang="es-PE" dirty="0" smtClean="0"/>
              <a:t>:</a:t>
            </a:r>
          </a:p>
          <a:p>
            <a:pPr marL="0" defTabSz="457200">
              <a:lnSpc>
                <a:spcPct val="150000"/>
              </a:lnSpc>
            </a:pPr>
            <a:r>
              <a:rPr lang="es-PE" sz="1800" dirty="0"/>
              <a:t>Lo </a:t>
            </a:r>
            <a:r>
              <a:rPr lang="es-PE" sz="1800" dirty="0"/>
              <a:t>que debe hacer un sistema y no cómo debe ser implementado</a:t>
            </a:r>
            <a:r>
              <a:rPr lang="es-PE" sz="1800" dirty="0"/>
              <a:t>.</a:t>
            </a:r>
          </a:p>
          <a:p>
            <a:pPr marL="0" defTabSz="457200">
              <a:lnSpc>
                <a:spcPct val="150000"/>
              </a:lnSpc>
            </a:pPr>
            <a:r>
              <a:rPr lang="es-PE" sz="1800" dirty="0"/>
              <a:t>Proporcionar una mejor legibilidad y visibilidad en todo el proceso.</a:t>
            </a:r>
          </a:p>
          <a:p>
            <a:pPr marL="0" defTabSz="457200">
              <a:lnSpc>
                <a:spcPct val="150000"/>
              </a:lnSpc>
            </a:pPr>
            <a:r>
              <a:rPr lang="es-PE" sz="1800" dirty="0"/>
              <a:t>No validar sólo el funcionamiento del software, sino también que cumple con las expectativas del cliente.</a:t>
            </a:r>
          </a:p>
          <a:p>
            <a:pPr marL="0" defTabSz="457200">
              <a:lnSpc>
                <a:spcPct val="150000"/>
              </a:lnSpc>
            </a:pPr>
            <a:r>
              <a:rPr lang="es-PE" sz="1800" dirty="0"/>
              <a:t>Permitir que todas las partes implicadas: desarrolladores, analistas y </a:t>
            </a:r>
            <a:r>
              <a:rPr lang="es-PE" sz="1800" dirty="0" err="1"/>
              <a:t>stakeholders</a:t>
            </a:r>
            <a:r>
              <a:rPr lang="es-PE" sz="1800" dirty="0"/>
              <a:t>, </a:t>
            </a:r>
            <a:r>
              <a:rPr lang="es-PE" sz="1800" dirty="0"/>
              <a:t> </a:t>
            </a:r>
            <a:r>
              <a:rPr lang="es-PE" sz="1800" dirty="0" smtClean="0"/>
              <a:t>              hablen </a:t>
            </a:r>
            <a:r>
              <a:rPr lang="es-PE" sz="1800" dirty="0"/>
              <a:t>el mismo lenguaje con el objetivo de entregar productos con alto valor.</a:t>
            </a:r>
          </a:p>
        </p:txBody>
      </p:sp>
    </p:spTree>
    <p:extLst>
      <p:ext uri="{BB962C8B-B14F-4D97-AF65-F5344CB8AC3E}">
        <p14:creationId xmlns:p14="http://schemas.microsoft.com/office/powerpoint/2010/main" val="4134099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D09886D-5E71-4177-8358-37D99AA73121}"/>
              </a:ext>
            </a:extLst>
          </p:cNvPr>
          <p:cNvSpPr>
            <a:spLocks noGrp="1"/>
          </p:cNvSpPr>
          <p:nvPr>
            <p:ph type="title"/>
          </p:nvPr>
        </p:nvSpPr>
        <p:spPr/>
        <p:txBody>
          <a:bodyPr/>
          <a:lstStyle/>
          <a:p>
            <a:r>
              <a:rPr lang="es-PE" dirty="0"/>
              <a:t>BENEFICIOS…</a:t>
            </a:r>
            <a:endParaRPr lang="es-ES" dirty="0"/>
          </a:p>
        </p:txBody>
      </p:sp>
      <p:sp>
        <p:nvSpPr>
          <p:cNvPr id="3" name="Marcador de contenido 2">
            <a:extLst>
              <a:ext uri="{FF2B5EF4-FFF2-40B4-BE49-F238E27FC236}">
                <a16:creationId xmlns:a16="http://schemas.microsoft.com/office/drawing/2014/main" xmlns="" id="{D9C03756-DE99-4B5F-8308-CB32712C4CE3}"/>
              </a:ext>
            </a:extLst>
          </p:cNvPr>
          <p:cNvSpPr>
            <a:spLocks noGrp="1"/>
          </p:cNvSpPr>
          <p:nvPr>
            <p:ph idx="1"/>
          </p:nvPr>
        </p:nvSpPr>
        <p:spPr/>
        <p:txBody>
          <a:bodyPr/>
          <a:lstStyle/>
          <a:p>
            <a:r>
              <a:rPr lang="es-ES" dirty="0"/>
              <a:t>Fuerte colaboración</a:t>
            </a:r>
          </a:p>
          <a:p>
            <a:r>
              <a:rPr lang="es-ES" dirty="0"/>
              <a:t>Alta visibilidad</a:t>
            </a:r>
          </a:p>
          <a:p>
            <a:r>
              <a:rPr lang="es-PE" dirty="0"/>
              <a:t>El diseño del software sigue el valor comercial</a:t>
            </a:r>
          </a:p>
          <a:p>
            <a:r>
              <a:rPr lang="es-ES" dirty="0"/>
              <a:t>El lenguaje omnipresente.</a:t>
            </a:r>
          </a:p>
          <a:p>
            <a:r>
              <a:rPr lang="es-PE" dirty="0"/>
              <a:t>Más confianza del lado del desarrollador</a:t>
            </a:r>
          </a:p>
          <a:p>
            <a:r>
              <a:rPr lang="es-ES" dirty="0"/>
              <a:t>Costes más bajos</a:t>
            </a:r>
          </a:p>
        </p:txBody>
      </p:sp>
      <p:pic>
        <p:nvPicPr>
          <p:cNvPr id="3074" name="Picture 2" descr="BDD test picture">
            <a:extLst>
              <a:ext uri="{FF2B5EF4-FFF2-40B4-BE49-F238E27FC236}">
                <a16:creationId xmlns:a16="http://schemas.microsoft.com/office/drawing/2014/main" xmlns="" id="{F96CA60A-600E-4DEB-98EF-DC20AD7C3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4081" y="1545270"/>
            <a:ext cx="3760228" cy="3218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7978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16042" y="1911612"/>
            <a:ext cx="1449044" cy="983560"/>
          </a:xfrm>
        </p:spPr>
        <p:txBody>
          <a:bodyPr>
            <a:normAutofit/>
          </a:bodyPr>
          <a:lstStyle/>
          <a:p>
            <a:r>
              <a:rPr lang="es-PE" sz="4300" dirty="0"/>
              <a:t>MDD</a:t>
            </a:r>
          </a:p>
        </p:txBody>
      </p:sp>
      <p:sp>
        <p:nvSpPr>
          <p:cNvPr id="4" name="Título 1"/>
          <p:cNvSpPr txBox="1">
            <a:spLocks/>
          </p:cNvSpPr>
          <p:nvPr/>
        </p:nvSpPr>
        <p:spPr>
          <a:xfrm>
            <a:off x="825919" y="3239709"/>
            <a:ext cx="2229290" cy="19773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s-PE" sz="4400" dirty="0" err="1"/>
              <a:t>Model</a:t>
            </a:r>
            <a:r>
              <a:rPr lang="es-PE" sz="4400" dirty="0"/>
              <a:t> </a:t>
            </a:r>
            <a:r>
              <a:rPr lang="es-PE" sz="4400" dirty="0" err="1"/>
              <a:t>Driven</a:t>
            </a:r>
            <a:r>
              <a:rPr lang="es-PE" sz="4400" dirty="0"/>
              <a:t> </a:t>
            </a:r>
            <a:r>
              <a:rPr lang="es-PE" sz="4400" dirty="0" err="1"/>
              <a:t>Design</a:t>
            </a:r>
            <a:endParaRPr lang="es-PE" sz="4400" dirty="0"/>
          </a:p>
        </p:txBody>
      </p:sp>
      <p:sp>
        <p:nvSpPr>
          <p:cNvPr id="3" name="CuadroTexto 2">
            <a:extLst>
              <a:ext uri="{FF2B5EF4-FFF2-40B4-BE49-F238E27FC236}">
                <a16:creationId xmlns:a16="http://schemas.microsoft.com/office/drawing/2014/main" xmlns="" id="{F782F7F6-C266-43EB-89CE-EEDFD03CBBBF}"/>
              </a:ext>
            </a:extLst>
          </p:cNvPr>
          <p:cNvSpPr txBox="1"/>
          <p:nvPr/>
        </p:nvSpPr>
        <p:spPr>
          <a:xfrm>
            <a:off x="3778437" y="1744821"/>
            <a:ext cx="7642075" cy="3368358"/>
          </a:xfrm>
          <a:prstGeom prst="rect">
            <a:avLst/>
          </a:prstGeom>
          <a:noFill/>
        </p:spPr>
        <p:txBody>
          <a:bodyPr wrap="square" rtlCol="0">
            <a:spAutoFit/>
          </a:bodyPr>
          <a:lstStyle/>
          <a:p>
            <a:pPr algn="just">
              <a:lnSpc>
                <a:spcPct val="150000"/>
              </a:lnSpc>
            </a:pPr>
            <a:r>
              <a:rPr lang="es-PE" dirty="0"/>
              <a:t>Es un nuevo paradigma para el desarrollo de software.</a:t>
            </a:r>
          </a:p>
          <a:p>
            <a:pPr algn="just">
              <a:lnSpc>
                <a:spcPct val="150000"/>
              </a:lnSpc>
            </a:pPr>
            <a:r>
              <a:rPr lang="es-PE" dirty="0"/>
              <a:t>Es una propuesta para el desarrollo de software en la que se le atribuye a los modelos el papel principal de todo el proceso, frente a las propuestas tradicionales basadas en lenguajes de programación y plataformas de objetos y componentes de software.</a:t>
            </a:r>
          </a:p>
          <a:p>
            <a:pPr algn="just">
              <a:lnSpc>
                <a:spcPct val="150000"/>
              </a:lnSpc>
            </a:pPr>
            <a:r>
              <a:rPr lang="es-PE" dirty="0"/>
              <a:t>Hay dos conceptos centrales asociados con el desarrollo impulsado por modelos: la abstracción y la automatización. </a:t>
            </a:r>
          </a:p>
        </p:txBody>
      </p:sp>
      <p:pic>
        <p:nvPicPr>
          <p:cNvPr id="5" name="Imagen 4">
            <a:extLst>
              <a:ext uri="{FF2B5EF4-FFF2-40B4-BE49-F238E27FC236}">
                <a16:creationId xmlns:a16="http://schemas.microsoft.com/office/drawing/2014/main" xmlns="" id="{5441DEB8-789C-412D-81B7-9D1CB7227D4C}"/>
              </a:ext>
            </a:extLst>
          </p:cNvPr>
          <p:cNvPicPr>
            <a:picLocks noChangeAspect="1"/>
          </p:cNvPicPr>
          <p:nvPr/>
        </p:nvPicPr>
        <p:blipFill>
          <a:blip r:embed="rId3"/>
          <a:stretch>
            <a:fillRect/>
          </a:stretch>
        </p:blipFill>
        <p:spPr>
          <a:xfrm>
            <a:off x="9514368" y="5486400"/>
            <a:ext cx="1031358" cy="1031358"/>
          </a:xfrm>
          <a:prstGeom prst="rect">
            <a:avLst/>
          </a:prstGeom>
        </p:spPr>
      </p:pic>
    </p:spTree>
    <p:extLst>
      <p:ext uri="{BB962C8B-B14F-4D97-AF65-F5344CB8AC3E}">
        <p14:creationId xmlns:p14="http://schemas.microsoft.com/office/powerpoint/2010/main" val="14936199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xmlns="" id="{07A8C800-171E-4A1F-997B-40E9FDB9C621}"/>
              </a:ext>
            </a:extLst>
          </p:cNvPr>
          <p:cNvSpPr>
            <a:spLocks noGrp="1"/>
          </p:cNvSpPr>
          <p:nvPr>
            <p:ph idx="1"/>
          </p:nvPr>
        </p:nvSpPr>
        <p:spPr>
          <a:xfrm>
            <a:off x="702294" y="647071"/>
            <a:ext cx="3224247" cy="5354800"/>
          </a:xfrm>
        </p:spPr>
        <p:txBody>
          <a:bodyPr>
            <a:normAutofit lnSpcReduction="10000"/>
          </a:bodyPr>
          <a:lstStyle/>
          <a:p>
            <a:pPr marL="0" indent="0" algn="ctr">
              <a:lnSpc>
                <a:spcPct val="120000"/>
              </a:lnSpc>
              <a:buNone/>
            </a:pPr>
            <a:r>
              <a:rPr lang="es-PE" sz="2300" b="1" dirty="0"/>
              <a:t>¿Cómo desarrollar un proyecto con MDD?</a:t>
            </a:r>
          </a:p>
          <a:p>
            <a:pPr>
              <a:lnSpc>
                <a:spcPct val="120000"/>
              </a:lnSpc>
            </a:pPr>
            <a:r>
              <a:rPr lang="es-PE" sz="1700" dirty="0"/>
              <a:t>El diagrama mostrado en la figura siguiente muestra el flujo de tareas que se realiza en un proyecto MDD. </a:t>
            </a:r>
          </a:p>
          <a:p>
            <a:pPr>
              <a:lnSpc>
                <a:spcPct val="120000"/>
              </a:lnSpc>
            </a:pPr>
            <a:r>
              <a:rPr lang="es-PE" sz="1700" dirty="0"/>
              <a:t>Las tareas sombreadas serían realizadas en un proyecto tradicional. Las tareas en blanco son las adicionales que construyen las herramientas MDD para un proyecto específico.</a:t>
            </a:r>
            <a:endParaRPr lang="es-ES" sz="1700" dirty="0"/>
          </a:p>
        </p:txBody>
      </p:sp>
      <p:pic>
        <p:nvPicPr>
          <p:cNvPr id="1030" name="Picture 6" descr="http://www.sg.com.mx/images/stories/200702/estrategias_figura1.gif">
            <a:extLst>
              <a:ext uri="{FF2B5EF4-FFF2-40B4-BE49-F238E27FC236}">
                <a16:creationId xmlns:a16="http://schemas.microsoft.com/office/drawing/2014/main" xmlns="" id="{AC678AA6-F4B6-45AE-9F71-13604A4C5B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2537" y="856129"/>
            <a:ext cx="6016166" cy="5145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2684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xmlns="" id="{3549B52B-FF85-4BAE-8369-D61CF3FAC57D}"/>
              </a:ext>
            </a:extLst>
          </p:cNvPr>
          <p:cNvSpPr txBox="1">
            <a:spLocks/>
          </p:cNvSpPr>
          <p:nvPr/>
        </p:nvSpPr>
        <p:spPr>
          <a:xfrm>
            <a:off x="7234519" y="708210"/>
            <a:ext cx="4114799" cy="5773271"/>
          </a:xfrm>
          <a:prstGeom prst="rect">
            <a:avLst/>
          </a:prstGeom>
        </p:spPr>
        <p:txBody>
          <a:bodyPr vert="horz" lIns="91440" tIns="45720" rIns="91440" bIns="45720" rtlCol="0">
            <a:normAutofit fontScale="62500" lnSpcReduction="20000"/>
          </a:bodyPr>
          <a:lst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a:lstStyle>
          <a:p>
            <a:pPr marL="0" indent="0" algn="ctr">
              <a:lnSpc>
                <a:spcPct val="140000"/>
              </a:lnSpc>
              <a:buNone/>
            </a:pPr>
            <a:r>
              <a:rPr lang="es-PE" sz="3700" b="1" dirty="0"/>
              <a:t>CADENA DE HERRAMIENTAS</a:t>
            </a:r>
          </a:p>
          <a:p>
            <a:pPr marL="0" indent="0" algn="ctr">
              <a:lnSpc>
                <a:spcPct val="140000"/>
              </a:lnSpc>
              <a:buNone/>
            </a:pPr>
            <a:endParaRPr lang="es-PE" b="1" dirty="0"/>
          </a:p>
          <a:p>
            <a:pPr algn="just">
              <a:lnSpc>
                <a:spcPct val="160000"/>
              </a:lnSpc>
            </a:pPr>
            <a:r>
              <a:rPr lang="es-PE" sz="1800" dirty="0"/>
              <a:t>En esta figura se muestra el flujo de cómo un desarrollador puede utilizar las herramientas MDD para desarrollar parte de una aplicación de negocio. </a:t>
            </a:r>
            <a:endParaRPr lang="es-ES" sz="1800" dirty="0"/>
          </a:p>
          <a:p>
            <a:pPr algn="just">
              <a:lnSpc>
                <a:spcPct val="160000"/>
              </a:lnSpc>
            </a:pPr>
            <a:r>
              <a:rPr lang="es-PE" sz="1800" dirty="0"/>
              <a:t>En este ejemplo, el desarrollador revisa el problema de negocio y selecciona un patrón de diseño. Esto aloja un modelo de diseño, y el desarrollador llena en detalle las funciones específicas del negocio que está construyendo. Posteriormente, el proceso de desarrollo es completamente automatizado. </a:t>
            </a:r>
          </a:p>
          <a:p>
            <a:pPr algn="just">
              <a:lnSpc>
                <a:spcPct val="160000"/>
              </a:lnSpc>
            </a:pPr>
            <a:r>
              <a:rPr lang="es-PE" sz="1800" dirty="0"/>
              <a:t>El desarrollador selecciona una opción para generar los artefactos, los cuales son empaquetados y colocados en el área de construcción. Entonces, el desarrollador puede seleccionar opciones, posteriormente para generar los artefactos adicionales para una plataforma de ejecución particular.</a:t>
            </a:r>
            <a:endParaRPr lang="es-ES" sz="1800" dirty="0"/>
          </a:p>
        </p:txBody>
      </p:sp>
      <p:pic>
        <p:nvPicPr>
          <p:cNvPr id="2050" name="Picture 2" descr="http://www.sg.com.mx/images/stories/200702/estrategias_figura2.gif">
            <a:extLst>
              <a:ext uri="{FF2B5EF4-FFF2-40B4-BE49-F238E27FC236}">
                <a16:creationId xmlns:a16="http://schemas.microsoft.com/office/drawing/2014/main" xmlns="" id="{752BEE68-6B0E-45CD-A225-67292D09E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757" y="623988"/>
            <a:ext cx="4886325" cy="5599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6855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72880" y="2089339"/>
            <a:ext cx="1325622" cy="970681"/>
          </a:xfrm>
        </p:spPr>
        <p:txBody>
          <a:bodyPr/>
          <a:lstStyle/>
          <a:p>
            <a:r>
              <a:rPr lang="es-PE" dirty="0"/>
              <a:t>TDD</a:t>
            </a:r>
          </a:p>
        </p:txBody>
      </p:sp>
      <p:sp>
        <p:nvSpPr>
          <p:cNvPr id="4" name="Título 1"/>
          <p:cNvSpPr txBox="1">
            <a:spLocks/>
          </p:cNvSpPr>
          <p:nvPr/>
        </p:nvSpPr>
        <p:spPr>
          <a:xfrm>
            <a:off x="1172880" y="3429000"/>
            <a:ext cx="3864906" cy="21705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s-PE" sz="4400" dirty="0"/>
              <a:t>Test </a:t>
            </a:r>
          </a:p>
          <a:p>
            <a:r>
              <a:rPr lang="es-PE" sz="4400" dirty="0" err="1"/>
              <a:t>Driven</a:t>
            </a:r>
            <a:r>
              <a:rPr lang="es-PE" sz="4400" dirty="0"/>
              <a:t> </a:t>
            </a:r>
            <a:r>
              <a:rPr lang="es-PE" sz="4400" dirty="0" err="1"/>
              <a:t>Development</a:t>
            </a:r>
            <a:endParaRPr lang="es-PE" sz="4400" dirty="0"/>
          </a:p>
        </p:txBody>
      </p:sp>
      <p:sp>
        <p:nvSpPr>
          <p:cNvPr id="3" name="CuadroTexto 2">
            <a:extLst>
              <a:ext uri="{FF2B5EF4-FFF2-40B4-BE49-F238E27FC236}">
                <a16:creationId xmlns:a16="http://schemas.microsoft.com/office/drawing/2014/main" xmlns="" id="{11B877B8-0236-41B6-B127-4E56060BFAE7}"/>
              </a:ext>
            </a:extLst>
          </p:cNvPr>
          <p:cNvSpPr txBox="1"/>
          <p:nvPr/>
        </p:nvSpPr>
        <p:spPr>
          <a:xfrm>
            <a:off x="5486400" y="2089339"/>
            <a:ext cx="6035040" cy="3369256"/>
          </a:xfrm>
          <a:prstGeom prst="rect">
            <a:avLst/>
          </a:prstGeom>
          <a:noFill/>
        </p:spPr>
        <p:txBody>
          <a:bodyPr wrap="square" rtlCol="0">
            <a:spAutoFit/>
          </a:bodyPr>
          <a:lstStyle/>
          <a:p>
            <a:pPr algn="just">
              <a:lnSpc>
                <a:spcPct val="150000"/>
              </a:lnSpc>
            </a:pPr>
            <a:r>
              <a:rPr lang="es-PE" dirty="0"/>
              <a:t>Es un procedimiento muy habitual entre los seguidores de </a:t>
            </a:r>
            <a:r>
              <a:rPr lang="es-PE" dirty="0">
                <a:hlinkClick r:id="rId3">
                  <a:extLst>
                    <a:ext uri="{A12FA001-AC4F-418D-AE19-62706E023703}">
                      <ahyp:hlinkClr xmlns:ahyp="http://schemas.microsoft.com/office/drawing/2018/hyperlinkcolor" xmlns="" val="tx"/>
                    </a:ext>
                  </a:extLst>
                </a:hlinkClick>
              </a:rPr>
              <a:t>metodologías ágiles</a:t>
            </a:r>
            <a:r>
              <a:rPr lang="es-PE" dirty="0"/>
              <a:t>. </a:t>
            </a:r>
          </a:p>
          <a:p>
            <a:pPr algn="just">
              <a:lnSpc>
                <a:spcPct val="150000"/>
              </a:lnSpc>
            </a:pPr>
            <a:r>
              <a:rPr lang="es-PE" dirty="0"/>
              <a:t>Se basa en un desarrollo de pruebas a través de las cuales debe pasar el código, si está bien implementado, se continúa creando código enfocado hacia la siguiente prueba, sino, se configura hasta que pase la prueba y podamos ir a la siguiente fase. </a:t>
            </a:r>
          </a:p>
        </p:txBody>
      </p:sp>
      <p:pic>
        <p:nvPicPr>
          <p:cNvPr id="5" name="Imagen 4">
            <a:extLst>
              <a:ext uri="{FF2B5EF4-FFF2-40B4-BE49-F238E27FC236}">
                <a16:creationId xmlns:a16="http://schemas.microsoft.com/office/drawing/2014/main" xmlns="" id="{ADF3122E-FF56-44F8-AB7D-AA61C7C6CED5}"/>
              </a:ext>
            </a:extLst>
          </p:cNvPr>
          <p:cNvPicPr>
            <a:picLocks noChangeAspect="1"/>
          </p:cNvPicPr>
          <p:nvPr/>
        </p:nvPicPr>
        <p:blipFill>
          <a:blip r:embed="rId4"/>
          <a:stretch>
            <a:fillRect/>
          </a:stretch>
        </p:blipFill>
        <p:spPr>
          <a:xfrm>
            <a:off x="9610061" y="5380074"/>
            <a:ext cx="1031358" cy="1031358"/>
          </a:xfrm>
          <a:prstGeom prst="rect">
            <a:avLst/>
          </a:prstGeom>
        </p:spPr>
      </p:pic>
    </p:spTree>
    <p:extLst>
      <p:ext uri="{BB962C8B-B14F-4D97-AF65-F5344CB8AC3E}">
        <p14:creationId xmlns:p14="http://schemas.microsoft.com/office/powerpoint/2010/main" val="14601703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7B55FDB-F4FF-4833-9D5D-B1959164B94D}"/>
              </a:ext>
            </a:extLst>
          </p:cNvPr>
          <p:cNvSpPr>
            <a:spLocks noGrp="1"/>
          </p:cNvSpPr>
          <p:nvPr>
            <p:ph type="title"/>
          </p:nvPr>
        </p:nvSpPr>
        <p:spPr/>
        <p:txBody>
          <a:bodyPr/>
          <a:lstStyle/>
          <a:p>
            <a:r>
              <a:rPr lang="es-PE" dirty="0"/>
              <a:t>Procesos…</a:t>
            </a:r>
            <a:endParaRPr lang="es-ES" dirty="0"/>
          </a:p>
        </p:txBody>
      </p:sp>
      <p:sp>
        <p:nvSpPr>
          <p:cNvPr id="3" name="Marcador de contenido 2">
            <a:extLst>
              <a:ext uri="{FF2B5EF4-FFF2-40B4-BE49-F238E27FC236}">
                <a16:creationId xmlns:a16="http://schemas.microsoft.com/office/drawing/2014/main" xmlns="" id="{91E79A0F-699E-4CD6-B467-805FAB7B0A08}"/>
              </a:ext>
            </a:extLst>
          </p:cNvPr>
          <p:cNvSpPr>
            <a:spLocks noGrp="1"/>
          </p:cNvSpPr>
          <p:nvPr>
            <p:ph idx="1"/>
          </p:nvPr>
        </p:nvSpPr>
        <p:spPr>
          <a:xfrm>
            <a:off x="1066800" y="2175196"/>
            <a:ext cx="10058400" cy="4050792"/>
          </a:xfrm>
        </p:spPr>
        <p:txBody>
          <a:bodyPr/>
          <a:lstStyle/>
          <a:p>
            <a:r>
              <a:rPr lang="es-PE" dirty="0"/>
              <a:t>El TDD esta formada por dos procesos principales :</a:t>
            </a:r>
          </a:p>
        </p:txBody>
      </p:sp>
      <p:sp>
        <p:nvSpPr>
          <p:cNvPr id="4" name="Flecha: pentágono 3">
            <a:extLst>
              <a:ext uri="{FF2B5EF4-FFF2-40B4-BE49-F238E27FC236}">
                <a16:creationId xmlns:a16="http://schemas.microsoft.com/office/drawing/2014/main" xmlns="" id="{B14C6F51-F514-4499-A477-86EE957F36A2}"/>
              </a:ext>
            </a:extLst>
          </p:cNvPr>
          <p:cNvSpPr/>
          <p:nvPr/>
        </p:nvSpPr>
        <p:spPr>
          <a:xfrm>
            <a:off x="1398494" y="3173505"/>
            <a:ext cx="5898777" cy="806824"/>
          </a:xfrm>
          <a:prstGeom prst="homePlate">
            <a:avLst>
              <a:gd name="adj" fmla="val 36598"/>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t>Escribir primero las pruebas   </a:t>
            </a:r>
          </a:p>
          <a:p>
            <a:pPr algn="ctr"/>
            <a:r>
              <a:rPr lang="es-PE" dirty="0"/>
              <a:t>(</a:t>
            </a:r>
            <a:r>
              <a:rPr lang="es-PE" sz="1600" i="1" dirty="0"/>
              <a:t>Test </a:t>
            </a:r>
            <a:r>
              <a:rPr lang="es-PE" sz="1600" i="1" dirty="0" err="1"/>
              <a:t>First</a:t>
            </a:r>
            <a:r>
              <a:rPr lang="es-PE" sz="1600" i="1" dirty="0"/>
              <a:t> </a:t>
            </a:r>
            <a:r>
              <a:rPr lang="es-PE" sz="1600" i="1" dirty="0" err="1"/>
              <a:t>Development</a:t>
            </a:r>
            <a:r>
              <a:rPr lang="es-PE" dirty="0"/>
              <a:t>)</a:t>
            </a:r>
          </a:p>
          <a:p>
            <a:pPr algn="ctr"/>
            <a:endParaRPr lang="es-ES" dirty="0"/>
          </a:p>
        </p:txBody>
      </p:sp>
      <p:sp>
        <p:nvSpPr>
          <p:cNvPr id="5" name="Flecha: pentágono 4">
            <a:extLst>
              <a:ext uri="{FF2B5EF4-FFF2-40B4-BE49-F238E27FC236}">
                <a16:creationId xmlns:a16="http://schemas.microsoft.com/office/drawing/2014/main" xmlns="" id="{1AA564B6-4A35-4C07-B611-6F007B068F5D}"/>
              </a:ext>
            </a:extLst>
          </p:cNvPr>
          <p:cNvSpPr/>
          <p:nvPr/>
        </p:nvSpPr>
        <p:spPr>
          <a:xfrm>
            <a:off x="4966448" y="4659405"/>
            <a:ext cx="6051176" cy="806824"/>
          </a:xfrm>
          <a:prstGeom prst="homePlat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Refactorización de código (</a:t>
            </a:r>
            <a:r>
              <a:rPr lang="es-ES" sz="1600" i="1" dirty="0" err="1"/>
              <a:t>Refactoring</a:t>
            </a:r>
            <a:r>
              <a:rPr lang="es-ES" dirty="0"/>
              <a:t>)</a:t>
            </a:r>
          </a:p>
          <a:p>
            <a:pPr algn="ctr"/>
            <a:endParaRPr lang="es-ES" dirty="0"/>
          </a:p>
        </p:txBody>
      </p:sp>
    </p:spTree>
    <p:extLst>
      <p:ext uri="{BB962C8B-B14F-4D97-AF65-F5344CB8AC3E}">
        <p14:creationId xmlns:p14="http://schemas.microsoft.com/office/powerpoint/2010/main" val="329735340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ra">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Madera</Template>
  <TotalTime>178</TotalTime>
  <Words>576</Words>
  <Application>Microsoft Office PowerPoint</Application>
  <PresentationFormat>Panorámica</PresentationFormat>
  <Paragraphs>60</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Bookman Old Style</vt:lpstr>
      <vt:lpstr>Century Gothic</vt:lpstr>
      <vt:lpstr>Wingdings</vt:lpstr>
      <vt:lpstr>Tipo de madera</vt:lpstr>
      <vt:lpstr>TÉCNICAS DE DISEÑO Y DESARROLLO</vt:lpstr>
      <vt:lpstr>DDD</vt:lpstr>
      <vt:lpstr>Este se centras en:</vt:lpstr>
      <vt:lpstr>Beneficios…</vt:lpstr>
      <vt:lpstr>Presentación de PowerPoint</vt:lpstr>
      <vt:lpstr>BDD</vt:lpstr>
      <vt:lpstr>Características principales</vt:lpstr>
      <vt:lpstr>BENEFICIOS…</vt:lpstr>
      <vt:lpstr>MDD</vt:lpstr>
      <vt:lpstr>Presentación de PowerPoint</vt:lpstr>
      <vt:lpstr>Presentación de PowerPoint</vt:lpstr>
      <vt:lpstr>TDD</vt:lpstr>
      <vt:lpstr>Procesos…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TÉCNICAS DE DISEÑO Y DESARROLLO</dc:title>
  <dc:creator>Yerson Becario</dc:creator>
  <cp:lastModifiedBy>Yerson Becario</cp:lastModifiedBy>
  <cp:revision>23</cp:revision>
  <dcterms:created xsi:type="dcterms:W3CDTF">2018-09-26T19:52:55Z</dcterms:created>
  <dcterms:modified xsi:type="dcterms:W3CDTF">2018-09-29T12:57:46Z</dcterms:modified>
</cp:coreProperties>
</file>